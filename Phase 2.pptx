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Tomorrow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300" y="3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21E53A-20BA-4162-AAE1-68D2AAEFDC85}" type="datetimeFigureOut">
              <a:rPr lang="en-US" smtClean="0"/>
              <a:t>31-Dec-25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EA67D-B782-4DF4-82DB-412D8E63B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83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EA67D-B782-4DF4-82DB-412D8E63B2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09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00200" y="2171700"/>
            <a:ext cx="15011399" cy="6477000"/>
            <a:chOff x="0" y="0"/>
            <a:chExt cx="3633571" cy="122638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33570" cy="1226382"/>
            </a:xfrm>
            <a:custGeom>
              <a:avLst/>
              <a:gdLst/>
              <a:ahLst/>
              <a:cxnLst/>
              <a:rect l="l" t="t" r="r" b="b"/>
              <a:pathLst>
                <a:path w="3633570" h="1226382">
                  <a:moveTo>
                    <a:pt x="0" y="0"/>
                  </a:moveTo>
                  <a:lnTo>
                    <a:pt x="3633570" y="0"/>
                  </a:lnTo>
                  <a:lnTo>
                    <a:pt x="3633570" y="1226382"/>
                  </a:lnTo>
                  <a:lnTo>
                    <a:pt x="0" y="1226382"/>
                  </a:lnTo>
                  <a:close/>
                </a:path>
              </a:pathLst>
            </a:custGeom>
            <a:solidFill>
              <a:srgbClr val="FFFFFF">
                <a:alpha val="1098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633571" cy="1274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1304065">
            <a:off x="423498" y="292448"/>
            <a:ext cx="2686742" cy="3001440"/>
          </a:xfrm>
          <a:custGeom>
            <a:avLst/>
            <a:gdLst/>
            <a:ahLst/>
            <a:cxnLst/>
            <a:rect l="l" t="t" r="r" b="b"/>
            <a:pathLst>
              <a:path w="2686742" h="3001440">
                <a:moveTo>
                  <a:pt x="0" y="0"/>
                </a:moveTo>
                <a:lnTo>
                  <a:pt x="2686741" y="0"/>
                </a:lnTo>
                <a:lnTo>
                  <a:pt x="2686741" y="3001441"/>
                </a:lnTo>
                <a:lnTo>
                  <a:pt x="0" y="30014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41450">
            <a:off x="15117782" y="6925122"/>
            <a:ext cx="2615300" cy="2761785"/>
          </a:xfrm>
          <a:custGeom>
            <a:avLst/>
            <a:gdLst/>
            <a:ahLst/>
            <a:cxnLst/>
            <a:rect l="l" t="t" r="r" b="b"/>
            <a:pathLst>
              <a:path w="2615300" h="2761785">
                <a:moveTo>
                  <a:pt x="0" y="0"/>
                </a:moveTo>
                <a:lnTo>
                  <a:pt x="2615300" y="0"/>
                </a:lnTo>
                <a:lnTo>
                  <a:pt x="2615300" y="2761785"/>
                </a:lnTo>
                <a:lnTo>
                  <a:pt x="0" y="27617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943935" y="4904933"/>
            <a:ext cx="12400129" cy="1010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71"/>
              </a:lnSpc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ea typeface="Tomorrow"/>
                <a:cs typeface="Times New Roman" panose="02020603050405020304" pitchFamily="18" charset="0"/>
                <a:sym typeface="Tomorrow"/>
              </a:rPr>
              <a:t>Presenters: Lama 320230029 – Rim 320230032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40759" y="2098288"/>
            <a:ext cx="11636713" cy="281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617"/>
              </a:lnSpc>
              <a:spcBef>
                <a:spcPct val="0"/>
              </a:spcBef>
            </a:pPr>
            <a:r>
              <a:rPr lang="en-US" sz="7000" u="none" strike="noStrike" dirty="0">
                <a:solidFill>
                  <a:srgbClr val="FFFFFF"/>
                </a:solidFill>
                <a:latin typeface="Times New Roman" panose="02020603050405020304" pitchFamily="18" charset="0"/>
                <a:ea typeface="Architype Van Der Leck"/>
                <a:cs typeface="Times New Roman" panose="02020603050405020304" pitchFamily="18" charset="0"/>
                <a:sym typeface="Architype Van Der Leck"/>
              </a:rPr>
              <a:t>Aswan Solar Panels: Machine Learning</a:t>
            </a:r>
          </a:p>
        </p:txBody>
      </p:sp>
      <p:sp>
        <p:nvSpPr>
          <p:cNvPr id="10" name="Freeform 10"/>
          <p:cNvSpPr/>
          <p:nvPr/>
        </p:nvSpPr>
        <p:spPr>
          <a:xfrm>
            <a:off x="-496166" y="7993829"/>
            <a:ext cx="4526072" cy="2528943"/>
          </a:xfrm>
          <a:custGeom>
            <a:avLst/>
            <a:gdLst/>
            <a:ahLst/>
            <a:cxnLst/>
            <a:rect l="l" t="t" r="r" b="b"/>
            <a:pathLst>
              <a:path w="4526072" h="2528943">
                <a:moveTo>
                  <a:pt x="0" y="0"/>
                </a:moveTo>
                <a:lnTo>
                  <a:pt x="4526072" y="0"/>
                </a:lnTo>
                <a:lnTo>
                  <a:pt x="4526072" y="2528942"/>
                </a:lnTo>
                <a:lnTo>
                  <a:pt x="0" y="25289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4192633" y="-235771"/>
            <a:ext cx="4526072" cy="2528943"/>
          </a:xfrm>
          <a:custGeom>
            <a:avLst/>
            <a:gdLst/>
            <a:ahLst/>
            <a:cxnLst/>
            <a:rect l="l" t="t" r="r" b="b"/>
            <a:pathLst>
              <a:path w="4526072" h="2528943">
                <a:moveTo>
                  <a:pt x="0" y="0"/>
                </a:moveTo>
                <a:lnTo>
                  <a:pt x="4526072" y="0"/>
                </a:lnTo>
                <a:lnTo>
                  <a:pt x="4526072" y="2528942"/>
                </a:lnTo>
                <a:lnTo>
                  <a:pt x="0" y="25289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5729015" y="4202312"/>
            <a:ext cx="626183" cy="620693"/>
            <a:chOff x="0" y="0"/>
            <a:chExt cx="164921" cy="1634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4921" cy="163475"/>
            </a:xfrm>
            <a:custGeom>
              <a:avLst/>
              <a:gdLst/>
              <a:ahLst/>
              <a:cxnLst/>
              <a:rect l="l" t="t" r="r" b="b"/>
              <a:pathLst>
                <a:path w="164921" h="163475">
                  <a:moveTo>
                    <a:pt x="0" y="0"/>
                  </a:moveTo>
                  <a:lnTo>
                    <a:pt x="164921" y="0"/>
                  </a:lnTo>
                  <a:lnTo>
                    <a:pt x="164921" y="163475"/>
                  </a:lnTo>
                  <a:lnTo>
                    <a:pt x="0" y="163475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64921" cy="21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787048" y="5143500"/>
            <a:ext cx="418486" cy="397926"/>
            <a:chOff x="0" y="0"/>
            <a:chExt cx="110219" cy="10480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0219" cy="104803"/>
            </a:xfrm>
            <a:custGeom>
              <a:avLst/>
              <a:gdLst/>
              <a:ahLst/>
              <a:cxnLst/>
              <a:rect l="l" t="t" r="r" b="b"/>
              <a:pathLst>
                <a:path w="110219" h="104803">
                  <a:moveTo>
                    <a:pt x="0" y="0"/>
                  </a:moveTo>
                  <a:lnTo>
                    <a:pt x="110219" y="0"/>
                  </a:lnTo>
                  <a:lnTo>
                    <a:pt x="110219" y="104803"/>
                  </a:lnTo>
                  <a:lnTo>
                    <a:pt x="0" y="104803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10219" cy="152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936712" y="5668780"/>
            <a:ext cx="291131" cy="270571"/>
            <a:chOff x="0" y="0"/>
            <a:chExt cx="76677" cy="7126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6677" cy="71261"/>
            </a:xfrm>
            <a:custGeom>
              <a:avLst/>
              <a:gdLst/>
              <a:ahLst/>
              <a:cxnLst/>
              <a:rect l="l" t="t" r="r" b="b"/>
              <a:pathLst>
                <a:path w="76677" h="71261">
                  <a:moveTo>
                    <a:pt x="0" y="0"/>
                  </a:moveTo>
                  <a:lnTo>
                    <a:pt x="76677" y="0"/>
                  </a:lnTo>
                  <a:lnTo>
                    <a:pt x="76677" y="71261"/>
                  </a:lnTo>
                  <a:lnTo>
                    <a:pt x="0" y="71261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76677" cy="118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036650" y="6169297"/>
            <a:ext cx="418486" cy="397926"/>
            <a:chOff x="0" y="0"/>
            <a:chExt cx="110219" cy="10480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0219" cy="104803"/>
            </a:xfrm>
            <a:custGeom>
              <a:avLst/>
              <a:gdLst/>
              <a:ahLst/>
              <a:cxnLst/>
              <a:rect l="l" t="t" r="r" b="b"/>
              <a:pathLst>
                <a:path w="110219" h="104803">
                  <a:moveTo>
                    <a:pt x="0" y="0"/>
                  </a:moveTo>
                  <a:lnTo>
                    <a:pt x="110219" y="0"/>
                  </a:lnTo>
                  <a:lnTo>
                    <a:pt x="110219" y="104803"/>
                  </a:lnTo>
                  <a:lnTo>
                    <a:pt x="0" y="104803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10219" cy="152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652804" y="6886583"/>
            <a:ext cx="291131" cy="270571"/>
            <a:chOff x="0" y="0"/>
            <a:chExt cx="76677" cy="7126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6677" cy="71261"/>
            </a:xfrm>
            <a:custGeom>
              <a:avLst/>
              <a:gdLst/>
              <a:ahLst/>
              <a:cxnLst/>
              <a:rect l="l" t="t" r="r" b="b"/>
              <a:pathLst>
                <a:path w="76677" h="71261">
                  <a:moveTo>
                    <a:pt x="0" y="0"/>
                  </a:moveTo>
                  <a:lnTo>
                    <a:pt x="76677" y="0"/>
                  </a:lnTo>
                  <a:lnTo>
                    <a:pt x="76677" y="71261"/>
                  </a:lnTo>
                  <a:lnTo>
                    <a:pt x="0" y="71261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76677" cy="118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036650" y="7350113"/>
            <a:ext cx="291131" cy="270571"/>
            <a:chOff x="0" y="0"/>
            <a:chExt cx="76677" cy="7126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6677" cy="71261"/>
            </a:xfrm>
            <a:custGeom>
              <a:avLst/>
              <a:gdLst/>
              <a:ahLst/>
              <a:cxnLst/>
              <a:rect l="l" t="t" r="r" b="b"/>
              <a:pathLst>
                <a:path w="76677" h="71261">
                  <a:moveTo>
                    <a:pt x="0" y="0"/>
                  </a:moveTo>
                  <a:lnTo>
                    <a:pt x="76677" y="0"/>
                  </a:lnTo>
                  <a:lnTo>
                    <a:pt x="76677" y="71261"/>
                  </a:lnTo>
                  <a:lnTo>
                    <a:pt x="0" y="71261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76677" cy="118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8">
            <a:extLst>
              <a:ext uri="{FF2B5EF4-FFF2-40B4-BE49-F238E27FC236}">
                <a16:creationId xmlns:a16="http://schemas.microsoft.com/office/drawing/2014/main" id="{048AB386-8423-464C-9F4E-89BF8A4B4047}"/>
              </a:ext>
            </a:extLst>
          </p:cNvPr>
          <p:cNvSpPr txBox="1"/>
          <p:nvPr/>
        </p:nvSpPr>
        <p:spPr>
          <a:xfrm>
            <a:off x="2905832" y="5911003"/>
            <a:ext cx="12400129" cy="1010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71"/>
              </a:lnSpc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ea typeface="Tomorrow"/>
                <a:cs typeface="Times New Roman" panose="02020603050405020304" pitchFamily="18" charset="0"/>
                <a:sym typeface="Tomorrow"/>
              </a:rPr>
              <a:t>Supervisors: </a:t>
            </a:r>
            <a:r>
              <a:rPr lang="en-US" sz="4000" u="sng" dirty="0">
                <a:solidFill>
                  <a:srgbClr val="FFFFFF"/>
                </a:solidFill>
                <a:latin typeface="Times New Roman" panose="02020603050405020304" pitchFamily="18" charset="0"/>
                <a:ea typeface="Tomorrow"/>
                <a:cs typeface="Times New Roman" panose="02020603050405020304" pitchFamily="18" charset="0"/>
                <a:sym typeface="Tomorrow"/>
              </a:rPr>
              <a:t>Dr. Ahmed </a:t>
            </a:r>
            <a:r>
              <a:rPr lang="en-US" sz="4000" u="sng" dirty="0" err="1">
                <a:solidFill>
                  <a:srgbClr val="FFFFFF"/>
                </a:solidFill>
                <a:latin typeface="Times New Roman" panose="02020603050405020304" pitchFamily="18" charset="0"/>
                <a:ea typeface="Tomorrow"/>
                <a:cs typeface="Times New Roman" panose="02020603050405020304" pitchFamily="18" charset="0"/>
                <a:sym typeface="Tomorrow"/>
              </a:rPr>
              <a:t>Anter</a:t>
            </a:r>
            <a:r>
              <a:rPr lang="en-US" sz="4000" u="sng" dirty="0">
                <a:solidFill>
                  <a:srgbClr val="FFFFFF"/>
                </a:solidFill>
                <a:latin typeface="Times New Roman" panose="02020603050405020304" pitchFamily="18" charset="0"/>
                <a:ea typeface="Tomorrow"/>
                <a:cs typeface="Times New Roman" panose="02020603050405020304" pitchFamily="18" charset="0"/>
                <a:sym typeface="Tomorrow"/>
              </a:rPr>
              <a:t> – ENG. Sama al </a:t>
            </a:r>
            <a:r>
              <a:rPr lang="en-US" sz="4000" u="sng" dirty="0" err="1">
                <a:solidFill>
                  <a:srgbClr val="FFFFFF"/>
                </a:solidFill>
                <a:latin typeface="Times New Roman" panose="02020603050405020304" pitchFamily="18" charset="0"/>
                <a:ea typeface="Tomorrow"/>
                <a:cs typeface="Times New Roman" panose="02020603050405020304" pitchFamily="18" charset="0"/>
                <a:sym typeface="Tomorrow"/>
              </a:rPr>
              <a:t>Qasaby</a:t>
            </a:r>
            <a:endParaRPr lang="en-US" sz="4000" u="sng" dirty="0">
              <a:solidFill>
                <a:srgbClr val="FFFFFF"/>
              </a:solidFill>
              <a:latin typeface="Times New Roman" panose="02020603050405020304" pitchFamily="18" charset="0"/>
              <a:ea typeface="Tomorrow"/>
              <a:cs typeface="Times New Roman" panose="02020603050405020304" pitchFamily="18" charset="0"/>
              <a:sym typeface="Tomorro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4166" y="2113107"/>
            <a:ext cx="14839668" cy="6095668"/>
            <a:chOff x="0" y="0"/>
            <a:chExt cx="3908390" cy="16054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08390" cy="1605443"/>
            </a:xfrm>
            <a:custGeom>
              <a:avLst/>
              <a:gdLst/>
              <a:ahLst/>
              <a:cxnLst/>
              <a:rect l="l" t="t" r="r" b="b"/>
              <a:pathLst>
                <a:path w="3908390" h="1605443">
                  <a:moveTo>
                    <a:pt x="0" y="0"/>
                  </a:moveTo>
                  <a:lnTo>
                    <a:pt x="3908390" y="0"/>
                  </a:lnTo>
                  <a:lnTo>
                    <a:pt x="3908390" y="1605443"/>
                  </a:lnTo>
                  <a:lnTo>
                    <a:pt x="0" y="1605443"/>
                  </a:lnTo>
                  <a:close/>
                </a:path>
              </a:pathLst>
            </a:custGeom>
            <a:solidFill>
              <a:srgbClr val="FFFFFF">
                <a:alpha val="1098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908390" cy="1653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979588" y="7516926"/>
            <a:ext cx="6304504" cy="3522642"/>
          </a:xfrm>
          <a:custGeom>
            <a:avLst/>
            <a:gdLst/>
            <a:ahLst/>
            <a:cxnLst/>
            <a:rect l="l" t="t" r="r" b="b"/>
            <a:pathLst>
              <a:path w="6304504" h="3522642">
                <a:moveTo>
                  <a:pt x="0" y="0"/>
                </a:moveTo>
                <a:lnTo>
                  <a:pt x="6304504" y="0"/>
                </a:lnTo>
                <a:lnTo>
                  <a:pt x="6304504" y="3522641"/>
                </a:lnTo>
                <a:lnTo>
                  <a:pt x="0" y="3522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5192266" y="1344691"/>
            <a:ext cx="747321" cy="768415"/>
            <a:chOff x="0" y="0"/>
            <a:chExt cx="196825" cy="20238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6825" cy="202381"/>
            </a:xfrm>
            <a:custGeom>
              <a:avLst/>
              <a:gdLst/>
              <a:ahLst/>
              <a:cxnLst/>
              <a:rect l="l" t="t" r="r" b="b"/>
              <a:pathLst>
                <a:path w="196825" h="202381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943935" y="2310076"/>
            <a:ext cx="12400129" cy="1166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71"/>
              </a:lnSpc>
            </a:pPr>
            <a:r>
              <a:rPr lang="en-US" sz="8000" b="1" dirty="0">
                <a:solidFill>
                  <a:srgbClr val="FFFFFF"/>
                </a:solidFill>
                <a:latin typeface="Times New Roman" panose="02020603050405020304" pitchFamily="18" charset="0"/>
                <a:ea typeface="Architype Van Der Leck"/>
                <a:cs typeface="Times New Roman" panose="02020603050405020304" pitchFamily="18" charset="0"/>
                <a:sym typeface="Architype Van Der Leck"/>
              </a:rPr>
              <a:t>Introduction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79514" y="4439735"/>
            <a:ext cx="10805068" cy="2603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Solar energy is a key renewable energy source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Power generation depends heavily on weather conditions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Accurate prediction helps energy planning and grid stability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Focus on solar energy production in Aswan, Egypt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6250742" y="2393082"/>
            <a:ext cx="626183" cy="566519"/>
            <a:chOff x="0" y="0"/>
            <a:chExt cx="164921" cy="14920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4921" cy="149207"/>
            </a:xfrm>
            <a:custGeom>
              <a:avLst/>
              <a:gdLst/>
              <a:ahLst/>
              <a:cxnLst/>
              <a:rect l="l" t="t" r="r" b="b"/>
              <a:pathLst>
                <a:path w="164921" h="149207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721829" y="1579328"/>
            <a:ext cx="310192" cy="299142"/>
            <a:chOff x="0" y="0"/>
            <a:chExt cx="81697" cy="7878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69070" y="6854327"/>
            <a:ext cx="310192" cy="299142"/>
            <a:chOff x="0" y="0"/>
            <a:chExt cx="81697" cy="7878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333412" y="7516926"/>
            <a:ext cx="310192" cy="299142"/>
            <a:chOff x="0" y="0"/>
            <a:chExt cx="81697" cy="7878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24528" y="2654593"/>
            <a:ext cx="10443672" cy="5954269"/>
            <a:chOff x="0" y="0"/>
            <a:chExt cx="1954195" cy="15682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54195" cy="1568203"/>
            </a:xfrm>
            <a:custGeom>
              <a:avLst/>
              <a:gdLst/>
              <a:ahLst/>
              <a:cxnLst/>
              <a:rect l="l" t="t" r="r" b="b"/>
              <a:pathLst>
                <a:path w="1954195" h="1568203">
                  <a:moveTo>
                    <a:pt x="0" y="0"/>
                  </a:moveTo>
                  <a:lnTo>
                    <a:pt x="1954195" y="0"/>
                  </a:lnTo>
                  <a:lnTo>
                    <a:pt x="1954195" y="1568203"/>
                  </a:lnTo>
                  <a:lnTo>
                    <a:pt x="0" y="1568203"/>
                  </a:lnTo>
                  <a:close/>
                </a:path>
              </a:pathLst>
            </a:custGeom>
            <a:solidFill>
              <a:srgbClr val="FFFFFF">
                <a:alpha val="1098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954195" cy="1615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72375" y="3236143"/>
            <a:ext cx="886669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7139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FFFFFF"/>
                </a:solidFill>
                <a:latin typeface="Times New Roman" panose="02020603050405020304" pitchFamily="18" charset="0"/>
                <a:ea typeface="Architype Van Der Leck"/>
                <a:cs typeface="Times New Roman" panose="02020603050405020304" pitchFamily="18" charset="0"/>
                <a:sym typeface="Architype Van Der Leck"/>
              </a:rPr>
              <a:t>Problem Statement</a:t>
            </a:r>
            <a:endParaRPr lang="en-US" sz="8000" b="1" u="none" strike="noStrike" dirty="0">
              <a:solidFill>
                <a:srgbClr val="FFFFFF"/>
              </a:solidFill>
              <a:latin typeface="Times New Roman" panose="02020603050405020304" pitchFamily="18" charset="0"/>
              <a:ea typeface="Architype Van Der Leck"/>
              <a:cs typeface="Times New Roman" panose="02020603050405020304" pitchFamily="18" charset="0"/>
              <a:sym typeface="Architype Van Der Leck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2420600" y="4593880"/>
            <a:ext cx="3866756" cy="3493396"/>
          </a:xfrm>
          <a:custGeom>
            <a:avLst/>
            <a:gdLst/>
            <a:ahLst/>
            <a:cxnLst/>
            <a:rect l="l" t="t" r="r" b="b"/>
            <a:pathLst>
              <a:path w="5973130" h="4911097">
                <a:moveTo>
                  <a:pt x="0" y="0"/>
                </a:moveTo>
                <a:lnTo>
                  <a:pt x="5973130" y="0"/>
                </a:lnTo>
                <a:lnTo>
                  <a:pt x="5973130" y="4911097"/>
                </a:lnTo>
                <a:lnTo>
                  <a:pt x="0" y="49110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11983496" y="-868048"/>
            <a:ext cx="6304504" cy="3522642"/>
          </a:xfrm>
          <a:custGeom>
            <a:avLst/>
            <a:gdLst/>
            <a:ahLst/>
            <a:cxnLst/>
            <a:rect l="l" t="t" r="r" b="b"/>
            <a:pathLst>
              <a:path w="6304504" h="3522642">
                <a:moveTo>
                  <a:pt x="0" y="0"/>
                </a:moveTo>
                <a:lnTo>
                  <a:pt x="6304504" y="0"/>
                </a:lnTo>
                <a:lnTo>
                  <a:pt x="6304504" y="3522641"/>
                </a:lnTo>
                <a:lnTo>
                  <a:pt x="0" y="3522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9052685" y="7188490"/>
            <a:ext cx="310192" cy="299142"/>
            <a:chOff x="0" y="0"/>
            <a:chExt cx="81697" cy="7878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817027" y="7851090"/>
            <a:ext cx="310192" cy="299142"/>
            <a:chOff x="0" y="0"/>
            <a:chExt cx="81697" cy="7878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50506" y="2256306"/>
            <a:ext cx="747321" cy="768415"/>
            <a:chOff x="0" y="0"/>
            <a:chExt cx="196825" cy="20238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6825" cy="202381"/>
            </a:xfrm>
            <a:custGeom>
              <a:avLst/>
              <a:gdLst/>
              <a:ahLst/>
              <a:cxnLst/>
              <a:rect l="l" t="t" r="r" b="b"/>
              <a:pathLst>
                <a:path w="196825" h="202381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15608" y="3528171"/>
            <a:ext cx="626183" cy="566519"/>
            <a:chOff x="0" y="0"/>
            <a:chExt cx="164921" cy="14920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4921" cy="149207"/>
            </a:xfrm>
            <a:custGeom>
              <a:avLst/>
              <a:gdLst/>
              <a:ahLst/>
              <a:cxnLst/>
              <a:rect l="l" t="t" r="r" b="b"/>
              <a:pathLst>
                <a:path w="164921" h="149207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69038" y="1916294"/>
            <a:ext cx="310192" cy="299142"/>
            <a:chOff x="0" y="0"/>
            <a:chExt cx="81697" cy="7878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572375" y="4593880"/>
            <a:ext cx="7554844" cy="2603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Solar output varies daily due to weather</a:t>
            </a: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This variability affects energy planning</a:t>
            </a: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Manual estimation is unreliable</a:t>
            </a: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Need for automated prediction using data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353028" y="2133760"/>
            <a:ext cx="9906272" cy="5954269"/>
            <a:chOff x="0" y="0"/>
            <a:chExt cx="2609059" cy="15682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09059" cy="1568203"/>
            </a:xfrm>
            <a:custGeom>
              <a:avLst/>
              <a:gdLst/>
              <a:ahLst/>
              <a:cxnLst/>
              <a:rect l="l" t="t" r="r" b="b"/>
              <a:pathLst>
                <a:path w="2609059" h="1568203">
                  <a:moveTo>
                    <a:pt x="0" y="0"/>
                  </a:moveTo>
                  <a:lnTo>
                    <a:pt x="2609059" y="0"/>
                  </a:lnTo>
                  <a:lnTo>
                    <a:pt x="2609059" y="1568203"/>
                  </a:lnTo>
                  <a:lnTo>
                    <a:pt x="0" y="1568203"/>
                  </a:lnTo>
                  <a:close/>
                </a:path>
              </a:pathLst>
            </a:custGeom>
            <a:solidFill>
              <a:srgbClr val="FFFFFF">
                <a:alpha val="1098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609059" cy="1615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973337" y="2868634"/>
            <a:ext cx="9751387" cy="948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7139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FFFFFF"/>
                </a:solidFill>
                <a:latin typeface="Times New Roman" panose="02020603050405020304" pitchFamily="18" charset="0"/>
                <a:ea typeface="Architype Van Der Leck"/>
                <a:cs typeface="Times New Roman" panose="02020603050405020304" pitchFamily="18" charset="0"/>
                <a:sym typeface="Architype Van Der Leck"/>
              </a:rPr>
              <a:t>Objectives</a:t>
            </a:r>
            <a:endParaRPr lang="en-US" sz="8000" b="1" u="none" strike="noStrike" dirty="0">
              <a:solidFill>
                <a:srgbClr val="FFFFFF"/>
              </a:solidFill>
              <a:latin typeface="Times New Roman" panose="02020603050405020304" pitchFamily="18" charset="0"/>
              <a:ea typeface="Architype Van Der Leck"/>
              <a:cs typeface="Times New Roman" panose="02020603050405020304" pitchFamily="18" charset="0"/>
              <a:sym typeface="Architype Van Der Le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973337" y="4193386"/>
            <a:ext cx="7080197" cy="3347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Analyze Aswan weather dataset</a:t>
            </a: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Preprocess and engineer features</a:t>
            </a: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Apply feature reduction techniques</a:t>
            </a: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Compare classical ML classifiers</a:t>
            </a: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Select the best generalizing model</a:t>
            </a:r>
          </a:p>
        </p:txBody>
      </p:sp>
      <p:sp>
        <p:nvSpPr>
          <p:cNvPr id="8" name="Freeform 8"/>
          <p:cNvSpPr/>
          <p:nvPr/>
        </p:nvSpPr>
        <p:spPr>
          <a:xfrm>
            <a:off x="-899330" y="7082729"/>
            <a:ext cx="6304504" cy="3522642"/>
          </a:xfrm>
          <a:custGeom>
            <a:avLst/>
            <a:gdLst/>
            <a:ahLst/>
            <a:cxnLst/>
            <a:rect l="l" t="t" r="r" b="b"/>
            <a:pathLst>
              <a:path w="6304504" h="3522642">
                <a:moveTo>
                  <a:pt x="0" y="0"/>
                </a:moveTo>
                <a:lnTo>
                  <a:pt x="6304504" y="0"/>
                </a:lnTo>
                <a:lnTo>
                  <a:pt x="6304504" y="3522642"/>
                </a:lnTo>
                <a:lnTo>
                  <a:pt x="0" y="3522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86287" y="3221294"/>
            <a:ext cx="4356847" cy="4114800"/>
          </a:xfrm>
          <a:custGeom>
            <a:avLst/>
            <a:gdLst/>
            <a:ahLst/>
            <a:cxnLst/>
            <a:rect l="l" t="t" r="r" b="b"/>
            <a:pathLst>
              <a:path w="4356847" h="4114800">
                <a:moveTo>
                  <a:pt x="0" y="0"/>
                </a:moveTo>
                <a:lnTo>
                  <a:pt x="4356847" y="0"/>
                </a:lnTo>
                <a:lnTo>
                  <a:pt x="43568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444080">
            <a:off x="15494559" y="6180712"/>
            <a:ext cx="3529482" cy="3186163"/>
          </a:xfrm>
          <a:custGeom>
            <a:avLst/>
            <a:gdLst/>
            <a:ahLst/>
            <a:cxnLst/>
            <a:rect l="l" t="t" r="r" b="b"/>
            <a:pathLst>
              <a:path w="3529482" h="3186163">
                <a:moveTo>
                  <a:pt x="0" y="0"/>
                </a:moveTo>
                <a:lnTo>
                  <a:pt x="3529482" y="0"/>
                </a:lnTo>
                <a:lnTo>
                  <a:pt x="3529482" y="3186163"/>
                </a:lnTo>
                <a:lnTo>
                  <a:pt x="0" y="31861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505602" y="1365345"/>
            <a:ext cx="747321" cy="768415"/>
            <a:chOff x="0" y="0"/>
            <a:chExt cx="196825" cy="2023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6825" cy="202381"/>
            </a:xfrm>
            <a:custGeom>
              <a:avLst/>
              <a:gdLst/>
              <a:ahLst/>
              <a:cxnLst/>
              <a:rect l="l" t="t" r="r" b="b"/>
              <a:pathLst>
                <a:path w="196825" h="202381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70704" y="2637209"/>
            <a:ext cx="626183" cy="566519"/>
            <a:chOff x="0" y="0"/>
            <a:chExt cx="164921" cy="14920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4921" cy="149207"/>
            </a:xfrm>
            <a:custGeom>
              <a:avLst/>
              <a:gdLst/>
              <a:ahLst/>
              <a:cxnLst/>
              <a:rect l="l" t="t" r="r" b="b"/>
              <a:pathLst>
                <a:path w="164921" h="149207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24133" y="1025332"/>
            <a:ext cx="310192" cy="299142"/>
            <a:chOff x="0" y="0"/>
            <a:chExt cx="81697" cy="7878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722033" y="2325653"/>
            <a:ext cx="310192" cy="299142"/>
            <a:chOff x="0" y="0"/>
            <a:chExt cx="81697" cy="7878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7486375" y="2988253"/>
            <a:ext cx="310192" cy="299142"/>
            <a:chOff x="0" y="0"/>
            <a:chExt cx="81697" cy="7878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83796" y="1024972"/>
            <a:ext cx="12566730" cy="8233328"/>
            <a:chOff x="0" y="0"/>
            <a:chExt cx="3309756" cy="21684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09756" cy="2168449"/>
            </a:xfrm>
            <a:custGeom>
              <a:avLst/>
              <a:gdLst/>
              <a:ahLst/>
              <a:cxnLst/>
              <a:rect l="l" t="t" r="r" b="b"/>
              <a:pathLst>
                <a:path w="3309756" h="2168449">
                  <a:moveTo>
                    <a:pt x="0" y="0"/>
                  </a:moveTo>
                  <a:lnTo>
                    <a:pt x="3309756" y="0"/>
                  </a:lnTo>
                  <a:lnTo>
                    <a:pt x="3309756" y="2168449"/>
                  </a:lnTo>
                  <a:lnTo>
                    <a:pt x="0" y="2168449"/>
                  </a:lnTo>
                  <a:close/>
                </a:path>
              </a:pathLst>
            </a:custGeom>
            <a:solidFill>
              <a:srgbClr val="FFFFFF">
                <a:alpha val="1098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309756" cy="22160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10448" y="1800978"/>
            <a:ext cx="9813147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7139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FFFFFF"/>
                </a:solidFill>
                <a:latin typeface="Times New Roman" panose="02020603050405020304" pitchFamily="18" charset="0"/>
                <a:ea typeface="Architype Van Der Leck"/>
                <a:cs typeface="Times New Roman" panose="02020603050405020304" pitchFamily="18" charset="0"/>
                <a:sym typeface="Architype Van Der Leck"/>
              </a:rPr>
              <a:t>Related Studies</a:t>
            </a:r>
            <a:endParaRPr lang="en-US" sz="8000" b="1" u="none" strike="noStrike" dirty="0">
              <a:solidFill>
                <a:srgbClr val="FFFFFF"/>
              </a:solidFill>
              <a:latin typeface="Times New Roman" panose="02020603050405020304" pitchFamily="18" charset="0"/>
              <a:ea typeface="Architype Van Der Leck"/>
              <a:cs typeface="Times New Roman" panose="02020603050405020304" pitchFamily="18" charset="0"/>
              <a:sym typeface="Architype Van Der Le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49142" y="3503411"/>
            <a:ext cx="8332083" cy="2603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Classical ML widely used in solar prediction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PCA and LDA improve efficiency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Temperature and humidity are key predictors</a:t>
            </a: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453390" lvl="1" indent="-226695" algn="just">
              <a:lnSpc>
                <a:spcPts val="2940"/>
              </a:lnSpc>
              <a:buFont typeface="Arial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Supports model selection in this project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12233981" y="-732621"/>
            <a:ext cx="6304504" cy="3522642"/>
          </a:xfrm>
          <a:custGeom>
            <a:avLst/>
            <a:gdLst/>
            <a:ahLst/>
            <a:cxnLst/>
            <a:rect l="l" t="t" r="r" b="b"/>
            <a:pathLst>
              <a:path w="6304504" h="3522642">
                <a:moveTo>
                  <a:pt x="0" y="0"/>
                </a:moveTo>
                <a:lnTo>
                  <a:pt x="6304504" y="0"/>
                </a:lnTo>
                <a:lnTo>
                  <a:pt x="6304504" y="3522642"/>
                </a:lnTo>
                <a:lnTo>
                  <a:pt x="0" y="3522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870704" y="7189743"/>
            <a:ext cx="747321" cy="768415"/>
            <a:chOff x="0" y="0"/>
            <a:chExt cx="196825" cy="2023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6825" cy="202381"/>
            </a:xfrm>
            <a:custGeom>
              <a:avLst/>
              <a:gdLst/>
              <a:ahLst/>
              <a:cxnLst/>
              <a:rect l="l" t="t" r="r" b="b"/>
              <a:pathLst>
                <a:path w="196825" h="202381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6739" y="9010736"/>
            <a:ext cx="626183" cy="566519"/>
            <a:chOff x="0" y="0"/>
            <a:chExt cx="164921" cy="14920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4921" cy="149207"/>
            </a:xfrm>
            <a:custGeom>
              <a:avLst/>
              <a:gdLst/>
              <a:ahLst/>
              <a:cxnLst/>
              <a:rect l="l" t="t" r="r" b="b"/>
              <a:pathLst>
                <a:path w="164921" h="149207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24133" y="8600077"/>
            <a:ext cx="310192" cy="299142"/>
            <a:chOff x="0" y="0"/>
            <a:chExt cx="81697" cy="7878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579665" y="2006683"/>
            <a:ext cx="310192" cy="299142"/>
            <a:chOff x="0" y="0"/>
            <a:chExt cx="81697" cy="7878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344007" y="2669282"/>
            <a:ext cx="310192" cy="299142"/>
            <a:chOff x="0" y="0"/>
            <a:chExt cx="81697" cy="7878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7" name="Picture 26" descr="A graph of blue squares&#10;&#10;Description automatically generated">
            <a:extLst>
              <a:ext uri="{FF2B5EF4-FFF2-40B4-BE49-F238E27FC236}">
                <a16:creationId xmlns:a16="http://schemas.microsoft.com/office/drawing/2014/main" id="{B6D47C6A-7A4A-4696-928A-13D2BACF87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530" y="2902046"/>
            <a:ext cx="6304504" cy="56980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729434" y="1490162"/>
            <a:ext cx="13699307" cy="7306675"/>
            <a:chOff x="0" y="0"/>
            <a:chExt cx="3608048" cy="19243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08048" cy="1924392"/>
            </a:xfrm>
            <a:custGeom>
              <a:avLst/>
              <a:gdLst/>
              <a:ahLst/>
              <a:cxnLst/>
              <a:rect l="l" t="t" r="r" b="b"/>
              <a:pathLst>
                <a:path w="3608048" h="1924392">
                  <a:moveTo>
                    <a:pt x="0" y="0"/>
                  </a:moveTo>
                  <a:lnTo>
                    <a:pt x="3608048" y="0"/>
                  </a:lnTo>
                  <a:lnTo>
                    <a:pt x="3608048" y="1924392"/>
                  </a:lnTo>
                  <a:lnTo>
                    <a:pt x="0" y="1924392"/>
                  </a:lnTo>
                  <a:close/>
                </a:path>
              </a:pathLst>
            </a:custGeom>
            <a:solidFill>
              <a:srgbClr val="FFFFFF">
                <a:alpha val="1098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608048" cy="19720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62789" y="403276"/>
            <a:ext cx="2247595" cy="2330317"/>
          </a:xfrm>
          <a:custGeom>
            <a:avLst/>
            <a:gdLst/>
            <a:ahLst/>
            <a:cxnLst/>
            <a:rect l="l" t="t" r="r" b="b"/>
            <a:pathLst>
              <a:path w="3313774" h="3701917">
                <a:moveTo>
                  <a:pt x="0" y="0"/>
                </a:moveTo>
                <a:lnTo>
                  <a:pt x="3313774" y="0"/>
                </a:lnTo>
                <a:lnTo>
                  <a:pt x="3313774" y="3701917"/>
                </a:lnTo>
                <a:lnTo>
                  <a:pt x="0" y="37019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558988" y="1993425"/>
            <a:ext cx="9694043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7139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FFFFFF"/>
                </a:solidFill>
                <a:latin typeface="Times New Roman" panose="02020603050405020304" pitchFamily="18" charset="0"/>
                <a:ea typeface="Architype Van Der Leck"/>
                <a:cs typeface="Times New Roman" panose="02020603050405020304" pitchFamily="18" charset="0"/>
                <a:sym typeface="Architype Van Der Leck"/>
              </a:rPr>
              <a:t>Methodology Used</a:t>
            </a:r>
            <a:endParaRPr lang="en-US" sz="8000" b="1" u="none" strike="noStrike" dirty="0">
              <a:solidFill>
                <a:srgbClr val="FFFFFF"/>
              </a:solidFill>
              <a:latin typeface="Times New Roman" panose="02020603050405020304" pitchFamily="18" charset="0"/>
              <a:ea typeface="Architype Van Der Leck"/>
              <a:cs typeface="Times New Roman" panose="02020603050405020304" pitchFamily="18" charset="0"/>
              <a:sym typeface="Architype Van Der Leck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206959" y="3693021"/>
            <a:ext cx="10358115" cy="3347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Exploratory Data Analysis (EDA)</a:t>
            </a: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Statistical analysis and binning</a:t>
            </a: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Feature reduction: PCA, LDA, SVD</a:t>
            </a: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Classification models</a:t>
            </a: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Performance evaluation metrics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619993" y="2805531"/>
            <a:ext cx="747321" cy="768415"/>
            <a:chOff x="0" y="0"/>
            <a:chExt cx="196825" cy="2023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6825" cy="202381"/>
            </a:xfrm>
            <a:custGeom>
              <a:avLst/>
              <a:gdLst/>
              <a:ahLst/>
              <a:cxnLst/>
              <a:rect l="l" t="t" r="r" b="b"/>
              <a:pathLst>
                <a:path w="196825" h="202381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633117" y="3873847"/>
            <a:ext cx="626183" cy="566519"/>
            <a:chOff x="0" y="0"/>
            <a:chExt cx="164921" cy="14920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4921" cy="149207"/>
            </a:xfrm>
            <a:custGeom>
              <a:avLst/>
              <a:gdLst/>
              <a:ahLst/>
              <a:cxnLst/>
              <a:rect l="l" t="t" r="r" b="b"/>
              <a:pathLst>
                <a:path w="164921" h="149207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386233" y="4128597"/>
            <a:ext cx="310192" cy="299142"/>
            <a:chOff x="0" y="0"/>
            <a:chExt cx="81697" cy="7878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 flipH="1">
            <a:off x="12233981" y="7084097"/>
            <a:ext cx="6304504" cy="3522642"/>
          </a:xfrm>
          <a:custGeom>
            <a:avLst/>
            <a:gdLst/>
            <a:ahLst/>
            <a:cxnLst/>
            <a:rect l="l" t="t" r="r" b="b"/>
            <a:pathLst>
              <a:path w="6304504" h="3522642">
                <a:moveTo>
                  <a:pt x="6304504" y="0"/>
                </a:moveTo>
                <a:lnTo>
                  <a:pt x="0" y="0"/>
                </a:lnTo>
                <a:lnTo>
                  <a:pt x="0" y="3522641"/>
                </a:lnTo>
                <a:lnTo>
                  <a:pt x="6304504" y="3522641"/>
                </a:lnTo>
                <a:lnTo>
                  <a:pt x="6304504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30" name="Picture 29" descr="A diagram of solar components&#10;&#10;Description automatically generated">
            <a:extLst>
              <a:ext uri="{FF2B5EF4-FFF2-40B4-BE49-F238E27FC236}">
                <a16:creationId xmlns:a16="http://schemas.microsoft.com/office/drawing/2014/main" id="{3C713C32-2267-4C1D-B60B-08BC004712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0479" y="3661056"/>
            <a:ext cx="7575150" cy="61039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360784" y="203678"/>
            <a:ext cx="10599117" cy="7306675"/>
            <a:chOff x="0" y="0"/>
            <a:chExt cx="2620949" cy="19243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20949" cy="1924392"/>
            </a:xfrm>
            <a:custGeom>
              <a:avLst/>
              <a:gdLst/>
              <a:ahLst/>
              <a:cxnLst/>
              <a:rect l="l" t="t" r="r" b="b"/>
              <a:pathLst>
                <a:path w="2620949" h="1924392">
                  <a:moveTo>
                    <a:pt x="0" y="0"/>
                  </a:moveTo>
                  <a:lnTo>
                    <a:pt x="2620949" y="0"/>
                  </a:lnTo>
                  <a:lnTo>
                    <a:pt x="2620949" y="1924392"/>
                  </a:lnTo>
                  <a:lnTo>
                    <a:pt x="0" y="1924392"/>
                  </a:lnTo>
                  <a:close/>
                </a:path>
              </a:pathLst>
            </a:custGeom>
            <a:solidFill>
              <a:srgbClr val="FFFFFF">
                <a:alpha val="1098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620949" cy="19720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 flipH="1">
            <a:off x="-665027" y="-732621"/>
            <a:ext cx="6304504" cy="3522642"/>
          </a:xfrm>
          <a:custGeom>
            <a:avLst/>
            <a:gdLst/>
            <a:ahLst/>
            <a:cxnLst/>
            <a:rect l="l" t="t" r="r" b="b"/>
            <a:pathLst>
              <a:path w="6304504" h="3522642">
                <a:moveTo>
                  <a:pt x="6304504" y="0"/>
                </a:moveTo>
                <a:lnTo>
                  <a:pt x="0" y="0"/>
                </a:lnTo>
                <a:lnTo>
                  <a:pt x="0" y="3522642"/>
                </a:lnTo>
                <a:lnTo>
                  <a:pt x="6304504" y="3522642"/>
                </a:lnTo>
                <a:lnTo>
                  <a:pt x="630450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620921" y="576854"/>
            <a:ext cx="977578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139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FFFFFF"/>
                </a:solidFill>
                <a:latin typeface="Times New Roman" panose="02020603050405020304" pitchFamily="18" charset="0"/>
                <a:ea typeface="Architype Van Der Leck"/>
                <a:cs typeface="Times New Roman" panose="02020603050405020304" pitchFamily="18" charset="0"/>
                <a:sym typeface="Architype Van Der Leck"/>
              </a:rPr>
              <a:t>Proposed Architecture</a:t>
            </a:r>
            <a:endParaRPr lang="en-US" sz="8000" b="1" u="none" strike="noStrike" dirty="0">
              <a:solidFill>
                <a:srgbClr val="FFFFFF"/>
              </a:solidFill>
              <a:latin typeface="Times New Roman" panose="02020603050405020304" pitchFamily="18" charset="0"/>
              <a:ea typeface="Architype Van Der Leck"/>
              <a:cs typeface="Times New Roman" panose="02020603050405020304" pitchFamily="18" charset="0"/>
              <a:sym typeface="Architype Van Der Leck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620921" y="1684267"/>
            <a:ext cx="7883978" cy="3347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Weather data input</a:t>
            </a: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Data preprocessing and scaling</a:t>
            </a:r>
          </a:p>
          <a:p>
            <a:pPr algn="just">
              <a:lnSpc>
                <a:spcPts val="2940"/>
              </a:lnSpc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Feature engineering and reduction</a:t>
            </a: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Model training</a:t>
            </a: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Performance evaluation</a:t>
            </a:r>
          </a:p>
        </p:txBody>
      </p:sp>
      <p:grpSp>
        <p:nvGrpSpPr>
          <p:cNvPr id="19" name="Group 19"/>
          <p:cNvGrpSpPr/>
          <p:nvPr/>
        </p:nvGrpSpPr>
        <p:grpSpPr>
          <a:xfrm rot="-5400000">
            <a:off x="17116823" y="7881739"/>
            <a:ext cx="284953" cy="274803"/>
            <a:chOff x="0" y="0"/>
            <a:chExt cx="81697" cy="7878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5400000">
            <a:off x="16383171" y="8506938"/>
            <a:ext cx="284953" cy="274803"/>
            <a:chOff x="0" y="0"/>
            <a:chExt cx="81697" cy="7878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7" name="Picture 26" descr="A screen shot of a computer&#10;&#10;Description automatically generated">
            <a:extLst>
              <a:ext uri="{FF2B5EF4-FFF2-40B4-BE49-F238E27FC236}">
                <a16:creationId xmlns:a16="http://schemas.microsoft.com/office/drawing/2014/main" id="{1C2D2E77-DB5B-4BFC-BAC1-C9E0E03FFFF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01"/>
          <a:stretch/>
        </p:blipFill>
        <p:spPr>
          <a:xfrm>
            <a:off x="328098" y="5448300"/>
            <a:ext cx="10612651" cy="43072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20712" y="428576"/>
            <a:ext cx="10915817" cy="5827191"/>
            <a:chOff x="0" y="0"/>
            <a:chExt cx="2620949" cy="15347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20949" cy="1534733"/>
            </a:xfrm>
            <a:custGeom>
              <a:avLst/>
              <a:gdLst/>
              <a:ahLst/>
              <a:cxnLst/>
              <a:rect l="l" t="t" r="r" b="b"/>
              <a:pathLst>
                <a:path w="2620949" h="1534733">
                  <a:moveTo>
                    <a:pt x="0" y="0"/>
                  </a:moveTo>
                  <a:lnTo>
                    <a:pt x="2620949" y="0"/>
                  </a:lnTo>
                  <a:lnTo>
                    <a:pt x="2620949" y="1534733"/>
                  </a:lnTo>
                  <a:lnTo>
                    <a:pt x="0" y="1534733"/>
                  </a:lnTo>
                  <a:close/>
                </a:path>
              </a:pathLst>
            </a:custGeom>
            <a:solidFill>
              <a:srgbClr val="FFFFFF">
                <a:alpha val="1098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620949" cy="1582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40801" y="716299"/>
            <a:ext cx="995141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139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FFFFFF"/>
                </a:solidFill>
                <a:latin typeface="Times New Roman" panose="02020603050405020304" pitchFamily="18" charset="0"/>
                <a:ea typeface="Architype Van Der Leck"/>
                <a:cs typeface="Times New Roman" panose="02020603050405020304" pitchFamily="18" charset="0"/>
                <a:sym typeface="Architype Van Der Leck"/>
              </a:rPr>
              <a:t>Results and Discussion</a:t>
            </a:r>
            <a:endParaRPr lang="en-US" sz="8000" b="1" u="none" strike="noStrike" dirty="0">
              <a:solidFill>
                <a:srgbClr val="FFFFFF"/>
              </a:solidFill>
              <a:latin typeface="Times New Roman" panose="02020603050405020304" pitchFamily="18" charset="0"/>
              <a:ea typeface="Architype Van Der Leck"/>
              <a:cs typeface="Times New Roman" panose="02020603050405020304" pitchFamily="18" charset="0"/>
              <a:sym typeface="Architype Van Der Leck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28113" y="2065526"/>
            <a:ext cx="7145764" cy="2603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PCA retained most data variance</a:t>
            </a: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LDA improved class separation</a:t>
            </a: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K-NN achieved highest accuracy (72.5%)</a:t>
            </a: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Decision Tree showed overfitting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12322725" y="0"/>
            <a:ext cx="6304504" cy="3522642"/>
          </a:xfrm>
          <a:custGeom>
            <a:avLst/>
            <a:gdLst/>
            <a:ahLst/>
            <a:cxnLst/>
            <a:rect l="l" t="t" r="r" b="b"/>
            <a:pathLst>
              <a:path w="6304504" h="3522642">
                <a:moveTo>
                  <a:pt x="0" y="0"/>
                </a:moveTo>
                <a:lnTo>
                  <a:pt x="6304504" y="0"/>
                </a:lnTo>
                <a:lnTo>
                  <a:pt x="6304504" y="3522642"/>
                </a:lnTo>
                <a:lnTo>
                  <a:pt x="0" y="3522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-5400000">
            <a:off x="197543" y="7565870"/>
            <a:ext cx="686516" cy="705894"/>
            <a:chOff x="0" y="0"/>
            <a:chExt cx="196825" cy="2023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6825" cy="202381"/>
            </a:xfrm>
            <a:custGeom>
              <a:avLst/>
              <a:gdLst/>
              <a:ahLst/>
              <a:cxnLst/>
              <a:rect l="l" t="t" r="r" b="b"/>
              <a:pathLst>
                <a:path w="196825" h="202381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5400000">
            <a:off x="1141843" y="6783554"/>
            <a:ext cx="575234" cy="520425"/>
            <a:chOff x="0" y="0"/>
            <a:chExt cx="164921" cy="14920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4921" cy="149207"/>
            </a:xfrm>
            <a:custGeom>
              <a:avLst/>
              <a:gdLst/>
              <a:ahLst/>
              <a:cxnLst/>
              <a:rect l="l" t="t" r="r" b="b"/>
              <a:pathLst>
                <a:path w="164921" h="149207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5400000">
            <a:off x="1589668" y="8131657"/>
            <a:ext cx="284953" cy="274803"/>
            <a:chOff x="0" y="0"/>
            <a:chExt cx="81697" cy="7878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5400000">
            <a:off x="11177110" y="5106323"/>
            <a:ext cx="284953" cy="274803"/>
            <a:chOff x="0" y="0"/>
            <a:chExt cx="81697" cy="7878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5400000">
            <a:off x="11686818" y="5729201"/>
            <a:ext cx="284953" cy="274803"/>
            <a:chOff x="0" y="0"/>
            <a:chExt cx="81697" cy="7878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697" cy="78786"/>
            </a:xfrm>
            <a:custGeom>
              <a:avLst/>
              <a:gdLst/>
              <a:ahLst/>
              <a:cxnLst/>
              <a:rect l="l" t="t" r="r" b="b"/>
              <a:pathLst>
                <a:path w="81697" h="78786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4B42DEE9-BD33-4AC3-BB54-7690B22B10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4510" y="1975286"/>
            <a:ext cx="10242778" cy="73951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805919" y="3007157"/>
            <a:ext cx="9180974" cy="5827191"/>
            <a:chOff x="0" y="0"/>
            <a:chExt cx="2418034" cy="15347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18034" cy="1534733"/>
            </a:xfrm>
            <a:custGeom>
              <a:avLst/>
              <a:gdLst/>
              <a:ahLst/>
              <a:cxnLst/>
              <a:rect l="l" t="t" r="r" b="b"/>
              <a:pathLst>
                <a:path w="2418034" h="1534733">
                  <a:moveTo>
                    <a:pt x="0" y="0"/>
                  </a:moveTo>
                  <a:lnTo>
                    <a:pt x="2418034" y="0"/>
                  </a:lnTo>
                  <a:lnTo>
                    <a:pt x="2418034" y="1534733"/>
                  </a:lnTo>
                  <a:lnTo>
                    <a:pt x="0" y="1534733"/>
                  </a:lnTo>
                  <a:close/>
                </a:path>
              </a:pathLst>
            </a:custGeom>
            <a:solidFill>
              <a:srgbClr val="FFFFFF">
                <a:alpha val="1098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18034" cy="1582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035779" y="7073027"/>
            <a:ext cx="6304504" cy="3522642"/>
          </a:xfrm>
          <a:custGeom>
            <a:avLst/>
            <a:gdLst/>
            <a:ahLst/>
            <a:cxnLst/>
            <a:rect l="l" t="t" r="r" b="b"/>
            <a:pathLst>
              <a:path w="6304504" h="3522642">
                <a:moveTo>
                  <a:pt x="0" y="0"/>
                </a:moveTo>
                <a:lnTo>
                  <a:pt x="6304504" y="0"/>
                </a:lnTo>
                <a:lnTo>
                  <a:pt x="6304504" y="3522642"/>
                </a:lnTo>
                <a:lnTo>
                  <a:pt x="0" y="3522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33596" y="3245184"/>
            <a:ext cx="5273292" cy="4704316"/>
          </a:xfrm>
          <a:custGeom>
            <a:avLst/>
            <a:gdLst/>
            <a:ahLst/>
            <a:cxnLst/>
            <a:rect l="l" t="t" r="r" b="b"/>
            <a:pathLst>
              <a:path w="5273292" h="4704316">
                <a:moveTo>
                  <a:pt x="0" y="0"/>
                </a:moveTo>
                <a:lnTo>
                  <a:pt x="5273292" y="0"/>
                </a:lnTo>
                <a:lnTo>
                  <a:pt x="5273292" y="4704316"/>
                </a:lnTo>
                <a:lnTo>
                  <a:pt x="0" y="4704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-5400000">
            <a:off x="16721788" y="7136129"/>
            <a:ext cx="544528" cy="530497"/>
            <a:chOff x="0" y="0"/>
            <a:chExt cx="156117" cy="1520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6117" cy="152094"/>
            </a:xfrm>
            <a:custGeom>
              <a:avLst/>
              <a:gdLst/>
              <a:ahLst/>
              <a:cxnLst/>
              <a:rect l="l" t="t" r="r" b="b"/>
              <a:pathLst>
                <a:path w="156117" h="152094">
                  <a:moveTo>
                    <a:pt x="0" y="0"/>
                  </a:moveTo>
                  <a:lnTo>
                    <a:pt x="156117" y="0"/>
                  </a:lnTo>
                  <a:lnTo>
                    <a:pt x="156117" y="152094"/>
                  </a:lnTo>
                  <a:lnTo>
                    <a:pt x="0" y="152094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56117" cy="1997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17429611" y="7877361"/>
            <a:ext cx="427597" cy="438623"/>
            <a:chOff x="0" y="0"/>
            <a:chExt cx="122593" cy="1257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2593" cy="125754"/>
            </a:xfrm>
            <a:custGeom>
              <a:avLst/>
              <a:gdLst/>
              <a:ahLst/>
              <a:cxnLst/>
              <a:rect l="l" t="t" r="r" b="b"/>
              <a:pathLst>
                <a:path w="122593" h="125754">
                  <a:moveTo>
                    <a:pt x="0" y="0"/>
                  </a:moveTo>
                  <a:lnTo>
                    <a:pt x="122593" y="0"/>
                  </a:lnTo>
                  <a:lnTo>
                    <a:pt x="122593" y="125754"/>
                  </a:lnTo>
                  <a:lnTo>
                    <a:pt x="0" y="125754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2593" cy="173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5400000">
            <a:off x="16419142" y="8311975"/>
            <a:ext cx="311166" cy="308157"/>
            <a:chOff x="0" y="0"/>
            <a:chExt cx="89212" cy="8834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9212" cy="88349"/>
            </a:xfrm>
            <a:custGeom>
              <a:avLst/>
              <a:gdLst/>
              <a:ahLst/>
              <a:cxnLst/>
              <a:rect l="l" t="t" r="r" b="b"/>
              <a:pathLst>
                <a:path w="89212" h="88349">
                  <a:moveTo>
                    <a:pt x="0" y="0"/>
                  </a:moveTo>
                  <a:lnTo>
                    <a:pt x="89212" y="0"/>
                  </a:lnTo>
                  <a:lnTo>
                    <a:pt x="89212" y="88349"/>
                  </a:lnTo>
                  <a:lnTo>
                    <a:pt x="0" y="88349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89212" cy="135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5400000">
            <a:off x="7650336" y="3710081"/>
            <a:ext cx="311166" cy="308157"/>
            <a:chOff x="0" y="0"/>
            <a:chExt cx="89212" cy="8834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9212" cy="88349"/>
            </a:xfrm>
            <a:custGeom>
              <a:avLst/>
              <a:gdLst/>
              <a:ahLst/>
              <a:cxnLst/>
              <a:rect l="l" t="t" r="r" b="b"/>
              <a:pathLst>
                <a:path w="89212" h="88349">
                  <a:moveTo>
                    <a:pt x="0" y="0"/>
                  </a:moveTo>
                  <a:lnTo>
                    <a:pt x="89212" y="0"/>
                  </a:lnTo>
                  <a:lnTo>
                    <a:pt x="89212" y="88349"/>
                  </a:lnTo>
                  <a:lnTo>
                    <a:pt x="0" y="88349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89212" cy="135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5400000">
            <a:off x="7958493" y="4796599"/>
            <a:ext cx="311166" cy="308157"/>
            <a:chOff x="0" y="0"/>
            <a:chExt cx="89212" cy="8834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9212" cy="88349"/>
            </a:xfrm>
            <a:custGeom>
              <a:avLst/>
              <a:gdLst/>
              <a:ahLst/>
              <a:cxnLst/>
              <a:rect l="l" t="t" r="r" b="b"/>
              <a:pathLst>
                <a:path w="89212" h="88349">
                  <a:moveTo>
                    <a:pt x="0" y="0"/>
                  </a:moveTo>
                  <a:lnTo>
                    <a:pt x="89212" y="0"/>
                  </a:lnTo>
                  <a:lnTo>
                    <a:pt x="89212" y="88349"/>
                  </a:lnTo>
                  <a:lnTo>
                    <a:pt x="0" y="88349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89212" cy="135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-5400000">
            <a:off x="7200821" y="4408923"/>
            <a:ext cx="311166" cy="308157"/>
            <a:chOff x="0" y="0"/>
            <a:chExt cx="89212" cy="8834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9212" cy="88349"/>
            </a:xfrm>
            <a:custGeom>
              <a:avLst/>
              <a:gdLst/>
              <a:ahLst/>
              <a:cxnLst/>
              <a:rect l="l" t="t" r="r" b="b"/>
              <a:pathLst>
                <a:path w="89212" h="88349">
                  <a:moveTo>
                    <a:pt x="0" y="0"/>
                  </a:moveTo>
                  <a:lnTo>
                    <a:pt x="89212" y="0"/>
                  </a:lnTo>
                  <a:lnTo>
                    <a:pt x="89212" y="88349"/>
                  </a:lnTo>
                  <a:lnTo>
                    <a:pt x="0" y="88349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89212" cy="135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8280191" y="3342442"/>
            <a:ext cx="9187057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39"/>
              </a:lnSpc>
              <a:spcBef>
                <a:spcPct val="0"/>
              </a:spcBef>
            </a:pPr>
            <a:r>
              <a:rPr lang="en-US" sz="8000" b="1" u="none" strike="noStrike" dirty="0">
                <a:solidFill>
                  <a:srgbClr val="FFFFFF"/>
                </a:solidFill>
                <a:latin typeface="Times New Roman" panose="02020603050405020304" pitchFamily="18" charset="0"/>
                <a:ea typeface="Architype Van Der Leck"/>
                <a:cs typeface="Times New Roman" panose="02020603050405020304" pitchFamily="18" charset="0"/>
                <a:sym typeface="Architype Van Der Leck"/>
              </a:rPr>
              <a:t>Future Work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14076" y="4428870"/>
            <a:ext cx="7726541" cy="2603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Time-series modeling</a:t>
            </a: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Larger and richer datasets</a:t>
            </a: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Additional weather features</a:t>
            </a: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342900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Ensemble learning methods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2689299"/>
            <a:ext cx="9180974" cy="5827191"/>
            <a:chOff x="0" y="0"/>
            <a:chExt cx="2418034" cy="15347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18034" cy="1534733"/>
            </a:xfrm>
            <a:custGeom>
              <a:avLst/>
              <a:gdLst/>
              <a:ahLst/>
              <a:cxnLst/>
              <a:rect l="l" t="t" r="r" b="b"/>
              <a:pathLst>
                <a:path w="2418034" h="1534733">
                  <a:moveTo>
                    <a:pt x="0" y="0"/>
                  </a:moveTo>
                  <a:lnTo>
                    <a:pt x="2418034" y="0"/>
                  </a:lnTo>
                  <a:lnTo>
                    <a:pt x="2418034" y="1534733"/>
                  </a:lnTo>
                  <a:lnTo>
                    <a:pt x="0" y="1534733"/>
                  </a:lnTo>
                  <a:close/>
                </a:path>
              </a:pathLst>
            </a:custGeom>
            <a:solidFill>
              <a:srgbClr val="FFFFFF">
                <a:alpha val="1098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418034" cy="1582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809012" y="5383633"/>
            <a:ext cx="7614460" cy="983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39"/>
              </a:lnSpc>
              <a:spcBef>
                <a:spcPct val="0"/>
              </a:spcBef>
            </a:pPr>
            <a:r>
              <a:rPr lang="en-US" sz="10000" b="1" u="none" strike="noStrike" dirty="0">
                <a:solidFill>
                  <a:srgbClr val="FFFFFF"/>
                </a:solidFill>
                <a:latin typeface="Times New Roman" panose="02020603050405020304" pitchFamily="18" charset="0"/>
                <a:ea typeface="Architype Van Der Leck"/>
                <a:cs typeface="Times New Roman" panose="02020603050405020304" pitchFamily="18" charset="0"/>
                <a:sym typeface="Architype Van Der Leck"/>
              </a:rPr>
              <a:t>Thank You</a:t>
            </a:r>
          </a:p>
        </p:txBody>
      </p:sp>
      <p:sp>
        <p:nvSpPr>
          <p:cNvPr id="8" name="Freeform 8"/>
          <p:cNvSpPr/>
          <p:nvPr/>
        </p:nvSpPr>
        <p:spPr>
          <a:xfrm>
            <a:off x="11915319" y="2883545"/>
            <a:ext cx="5080002" cy="5364538"/>
          </a:xfrm>
          <a:custGeom>
            <a:avLst/>
            <a:gdLst/>
            <a:ahLst/>
            <a:cxnLst/>
            <a:rect l="l" t="t" r="r" b="b"/>
            <a:pathLst>
              <a:path w="5080002" h="5364538">
                <a:moveTo>
                  <a:pt x="0" y="0"/>
                </a:moveTo>
                <a:lnTo>
                  <a:pt x="5080003" y="0"/>
                </a:lnTo>
                <a:lnTo>
                  <a:pt x="5080003" y="5364538"/>
                </a:lnTo>
                <a:lnTo>
                  <a:pt x="0" y="53645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2573026" y="-639096"/>
            <a:ext cx="6304504" cy="3522642"/>
          </a:xfrm>
          <a:custGeom>
            <a:avLst/>
            <a:gdLst/>
            <a:ahLst/>
            <a:cxnLst/>
            <a:rect l="l" t="t" r="r" b="b"/>
            <a:pathLst>
              <a:path w="6304504" h="3522642">
                <a:moveTo>
                  <a:pt x="0" y="0"/>
                </a:moveTo>
                <a:lnTo>
                  <a:pt x="6304504" y="0"/>
                </a:lnTo>
                <a:lnTo>
                  <a:pt x="6304504" y="3522641"/>
                </a:lnTo>
                <a:lnTo>
                  <a:pt x="0" y="3522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-10800000">
            <a:off x="282438" y="4083269"/>
            <a:ext cx="544528" cy="530497"/>
            <a:chOff x="0" y="0"/>
            <a:chExt cx="156117" cy="15209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6117" cy="152094"/>
            </a:xfrm>
            <a:custGeom>
              <a:avLst/>
              <a:gdLst/>
              <a:ahLst/>
              <a:cxnLst/>
              <a:rect l="l" t="t" r="r" b="b"/>
              <a:pathLst>
                <a:path w="156117" h="152094">
                  <a:moveTo>
                    <a:pt x="0" y="0"/>
                  </a:moveTo>
                  <a:lnTo>
                    <a:pt x="156117" y="0"/>
                  </a:lnTo>
                  <a:lnTo>
                    <a:pt x="156117" y="152094"/>
                  </a:lnTo>
                  <a:lnTo>
                    <a:pt x="0" y="152094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56117" cy="1997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1036199" y="3479849"/>
            <a:ext cx="427597" cy="438623"/>
            <a:chOff x="0" y="0"/>
            <a:chExt cx="122593" cy="12575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2593" cy="125754"/>
            </a:xfrm>
            <a:custGeom>
              <a:avLst/>
              <a:gdLst/>
              <a:ahLst/>
              <a:cxnLst/>
              <a:rect l="l" t="t" r="r" b="b"/>
              <a:pathLst>
                <a:path w="122593" h="125754">
                  <a:moveTo>
                    <a:pt x="0" y="0"/>
                  </a:moveTo>
                  <a:lnTo>
                    <a:pt x="122593" y="0"/>
                  </a:lnTo>
                  <a:lnTo>
                    <a:pt x="122593" y="125754"/>
                  </a:lnTo>
                  <a:lnTo>
                    <a:pt x="0" y="125754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22593" cy="173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10800000">
            <a:off x="1463796" y="4613766"/>
            <a:ext cx="311166" cy="308157"/>
            <a:chOff x="0" y="0"/>
            <a:chExt cx="89212" cy="8834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9212" cy="88349"/>
            </a:xfrm>
            <a:custGeom>
              <a:avLst/>
              <a:gdLst/>
              <a:ahLst/>
              <a:cxnLst/>
              <a:rect l="l" t="t" r="r" b="b"/>
              <a:pathLst>
                <a:path w="89212" h="88349">
                  <a:moveTo>
                    <a:pt x="0" y="0"/>
                  </a:moveTo>
                  <a:lnTo>
                    <a:pt x="89212" y="0"/>
                  </a:lnTo>
                  <a:lnTo>
                    <a:pt x="89212" y="88349"/>
                  </a:lnTo>
                  <a:lnTo>
                    <a:pt x="0" y="88349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9212" cy="135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10800000">
            <a:off x="9995875" y="6968307"/>
            <a:ext cx="427597" cy="438623"/>
            <a:chOff x="0" y="0"/>
            <a:chExt cx="122593" cy="12575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2593" cy="125754"/>
            </a:xfrm>
            <a:custGeom>
              <a:avLst/>
              <a:gdLst/>
              <a:ahLst/>
              <a:cxnLst/>
              <a:rect l="l" t="t" r="r" b="b"/>
              <a:pathLst>
                <a:path w="122593" h="125754">
                  <a:moveTo>
                    <a:pt x="0" y="0"/>
                  </a:moveTo>
                  <a:lnTo>
                    <a:pt x="122593" y="0"/>
                  </a:lnTo>
                  <a:lnTo>
                    <a:pt x="122593" y="125754"/>
                  </a:lnTo>
                  <a:lnTo>
                    <a:pt x="0" y="125754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22593" cy="173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10800000">
            <a:off x="10670249" y="7717117"/>
            <a:ext cx="311166" cy="308157"/>
            <a:chOff x="0" y="0"/>
            <a:chExt cx="89212" cy="8834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9212" cy="88349"/>
            </a:xfrm>
            <a:custGeom>
              <a:avLst/>
              <a:gdLst/>
              <a:ahLst/>
              <a:cxnLst/>
              <a:rect l="l" t="t" r="r" b="b"/>
              <a:pathLst>
                <a:path w="89212" h="88349">
                  <a:moveTo>
                    <a:pt x="0" y="0"/>
                  </a:moveTo>
                  <a:lnTo>
                    <a:pt x="89212" y="0"/>
                  </a:lnTo>
                  <a:lnTo>
                    <a:pt x="89212" y="88349"/>
                  </a:lnTo>
                  <a:lnTo>
                    <a:pt x="0" y="88349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89212" cy="135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 rot="-10800000">
            <a:off x="9527771" y="8248083"/>
            <a:ext cx="311166" cy="308157"/>
            <a:chOff x="0" y="0"/>
            <a:chExt cx="89212" cy="8834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9212" cy="88349"/>
            </a:xfrm>
            <a:custGeom>
              <a:avLst/>
              <a:gdLst/>
              <a:ahLst/>
              <a:cxnLst/>
              <a:rect l="l" t="t" r="r" b="b"/>
              <a:pathLst>
                <a:path w="89212" h="88349">
                  <a:moveTo>
                    <a:pt x="0" y="0"/>
                  </a:moveTo>
                  <a:lnTo>
                    <a:pt x="89212" y="0"/>
                  </a:lnTo>
                  <a:lnTo>
                    <a:pt x="89212" y="88349"/>
                  </a:lnTo>
                  <a:lnTo>
                    <a:pt x="0" y="88349"/>
                  </a:lnTo>
                  <a:close/>
                </a:path>
              </a:pathLst>
            </a:custGeom>
            <a:solidFill>
              <a:srgbClr val="0054C5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89212" cy="135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212</Words>
  <Application>Microsoft Office PowerPoint</Application>
  <PresentationFormat>Custom</PresentationFormat>
  <Paragraphs>75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Tomorrow</vt:lpstr>
      <vt:lpstr>Arial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Blue and White Dynamic Technology Presentation</dc:title>
  <dc:creator>Lenovo</dc:creator>
  <cp:lastModifiedBy>Lama</cp:lastModifiedBy>
  <cp:revision>3</cp:revision>
  <dcterms:created xsi:type="dcterms:W3CDTF">2006-08-16T00:00:00Z</dcterms:created>
  <dcterms:modified xsi:type="dcterms:W3CDTF">2025-12-31T13:20:31Z</dcterms:modified>
  <dc:identifier>DAG9C48lNsg</dc:identifier>
</cp:coreProperties>
</file>